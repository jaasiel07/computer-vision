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5"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A2B9A-4480-472C-83D7-17853AE76A73}" v="75" dt="2026-07-14T06:00:16.0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9203B9-DFBC-4AFB-AB78-61826DA66A11}"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E193E-1A1A-40EC-9566-F160F4C0B128}" type="slidenum">
              <a:rPr lang="en-IN" smtClean="0"/>
              <a:t>‹#›</a:t>
            </a:fld>
            <a:endParaRPr lang="en-IN"/>
          </a:p>
        </p:txBody>
      </p:sp>
    </p:spTree>
    <p:extLst>
      <p:ext uri="{BB962C8B-B14F-4D97-AF65-F5344CB8AC3E}">
        <p14:creationId xmlns:p14="http://schemas.microsoft.com/office/powerpoint/2010/main" val="370210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2E193E-1A1A-40EC-9566-F160F4C0B128}" type="slidenum">
              <a:rPr lang="en-IN" smtClean="0"/>
              <a:t>1</a:t>
            </a:fld>
            <a:endParaRPr lang="en-IN"/>
          </a:p>
        </p:txBody>
      </p:sp>
    </p:spTree>
    <p:extLst>
      <p:ext uri="{BB962C8B-B14F-4D97-AF65-F5344CB8AC3E}">
        <p14:creationId xmlns:p14="http://schemas.microsoft.com/office/powerpoint/2010/main" val="448138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2E193E-1A1A-40EC-9566-F160F4C0B128}" type="slidenum">
              <a:rPr lang="en-IN" smtClean="0"/>
              <a:t>4</a:t>
            </a:fld>
            <a:endParaRPr lang="en-IN"/>
          </a:p>
        </p:txBody>
      </p:sp>
    </p:spTree>
    <p:extLst>
      <p:ext uri="{BB962C8B-B14F-4D97-AF65-F5344CB8AC3E}">
        <p14:creationId xmlns:p14="http://schemas.microsoft.com/office/powerpoint/2010/main" val="259129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934323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925295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207474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AAB545-3BB5-4126-A45E-BE6FD061D7B3}"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199351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AAB545-3BB5-4126-A45E-BE6FD061D7B3}" type="datetimeFigureOut">
              <a:rPr lang="en-IN" smtClean="0"/>
              <a:t>14-07-2026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857147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AAB545-3BB5-4126-A45E-BE6FD061D7B3}" type="datetimeFigureOut">
              <a:rPr lang="en-IN" smtClean="0"/>
              <a:t>14-07-2026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33872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AAB545-3BB5-4126-A45E-BE6FD061D7B3}" type="datetimeFigureOut">
              <a:rPr lang="en-IN" smtClean="0"/>
              <a:t>14-07-2026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146623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AAB545-3BB5-4126-A45E-BE6FD061D7B3}"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1605935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AAB545-3BB5-4126-A45E-BE6FD061D7B3}"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1121102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AAB545-3BB5-4126-A45E-BE6FD061D7B3}"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155352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1658129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0286961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504505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1886837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1762987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2813618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AAB545-3BB5-4126-A45E-BE6FD061D7B3}"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F3134A-4671-4833-A08D-81452114DDBF}" type="slidenum">
              <a:rPr lang="en-IN" smtClean="0"/>
              <a:t>‹#›</a:t>
            </a:fld>
            <a:endParaRPr lang="en-IN"/>
          </a:p>
        </p:txBody>
      </p:sp>
    </p:spTree>
    <p:extLst>
      <p:ext uri="{BB962C8B-B14F-4D97-AF65-F5344CB8AC3E}">
        <p14:creationId xmlns:p14="http://schemas.microsoft.com/office/powerpoint/2010/main" val="3522308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7AAB545-3BB5-4126-A45E-BE6FD061D7B3}" type="datetimeFigureOut">
              <a:rPr lang="en-IN" smtClean="0"/>
              <a:t>14-07-2026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F3134A-4671-4833-A08D-81452114DDBF}" type="slidenum">
              <a:rPr lang="en-IN" smtClean="0"/>
              <a:t>‹#›</a:t>
            </a:fld>
            <a:endParaRPr lang="en-IN"/>
          </a:p>
        </p:txBody>
      </p:sp>
    </p:spTree>
    <p:extLst>
      <p:ext uri="{BB962C8B-B14F-4D97-AF65-F5344CB8AC3E}">
        <p14:creationId xmlns:p14="http://schemas.microsoft.com/office/powerpoint/2010/main" val="2966799546"/>
      </p:ext>
    </p:extLst>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298" r:id="rId13"/>
    <p:sldLayoutId id="2147484299" r:id="rId14"/>
    <p:sldLayoutId id="2147484300" r:id="rId15"/>
    <p:sldLayoutId id="2147484301" r:id="rId16"/>
    <p:sldLayoutId id="214748430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C6D971-4C1B-D207-1240-2A899627BB3E}"/>
              </a:ext>
            </a:extLst>
          </p:cNvPr>
          <p:cNvSpPr>
            <a:spLocks noGrp="1"/>
          </p:cNvSpPr>
          <p:nvPr>
            <p:ph type="title"/>
          </p:nvPr>
        </p:nvSpPr>
        <p:spPr>
          <a:xfrm>
            <a:off x="1492101" y="1457132"/>
            <a:ext cx="9207797" cy="1325563"/>
          </a:xfrm>
        </p:spPr>
        <p:txBody>
          <a:bodyPr>
            <a:noAutofit/>
          </a:bodyPr>
          <a:lstStyle/>
          <a:p>
            <a:pPr algn="ctr"/>
            <a:r>
              <a:rPr lang="en-IN" sz="3000" dirty="0">
                <a:latin typeface="Times New Roman" panose="02020603050405020304" pitchFamily="18" charset="0"/>
                <a:cs typeface="Times New Roman" panose="02020603050405020304" pitchFamily="18" charset="0"/>
              </a:rPr>
              <a:t>Computer Vision for Autonomous Vehicles: Perception, Calibration, and Depth Estimation</a:t>
            </a:r>
          </a:p>
        </p:txBody>
      </p:sp>
      <p:pic>
        <p:nvPicPr>
          <p:cNvPr id="6" name="Picture 4" descr="Saveetha Institute of Medical and Technical Sciences -SIMATS | Chennai">
            <a:extLst>
              <a:ext uri="{FF2B5EF4-FFF2-40B4-BE49-F238E27FC236}">
                <a16:creationId xmlns:a16="http://schemas.microsoft.com/office/drawing/2014/main" id="{71B14A64-9FC0-8092-A302-344AB63C81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884"/>
            <a:ext cx="991402" cy="9914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SIMATS CGPA Calculator">
            <a:extLst>
              <a:ext uri="{FF2B5EF4-FFF2-40B4-BE49-F238E27FC236}">
                <a16:creationId xmlns:a16="http://schemas.microsoft.com/office/drawing/2014/main" id="{0F3BD033-7C38-D3A4-841F-157F3F8844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92159" y="0"/>
            <a:ext cx="991402" cy="107728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15C84FA-731F-8BDC-D7A4-F228B3359D6D}"/>
              </a:ext>
            </a:extLst>
          </p:cNvPr>
          <p:cNvSpPr txBox="1"/>
          <p:nvPr/>
        </p:nvSpPr>
        <p:spPr>
          <a:xfrm>
            <a:off x="2041450" y="3022373"/>
            <a:ext cx="9473608" cy="55399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DSA0202- COMPUTER VISION USING OPEN CV</a:t>
            </a:r>
            <a:endParaRPr lang="en-IN" sz="3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C3F19CC-3D93-F466-3CA4-D3B62807B23E}"/>
              </a:ext>
            </a:extLst>
          </p:cNvPr>
          <p:cNvSpPr txBox="1"/>
          <p:nvPr/>
        </p:nvSpPr>
        <p:spPr>
          <a:xfrm>
            <a:off x="1783590" y="4727782"/>
            <a:ext cx="3880885" cy="769441"/>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Presented by:</a:t>
            </a:r>
          </a:p>
          <a:p>
            <a:r>
              <a:rPr lang="en-US" sz="2200" dirty="0">
                <a:latin typeface="Times New Roman" panose="02020603050405020304" pitchFamily="18" charset="0"/>
                <a:cs typeface="Times New Roman" panose="02020603050405020304" pitchFamily="18" charset="0"/>
              </a:rPr>
              <a:t>                         JAASIEL J.S</a:t>
            </a:r>
            <a:endParaRPr lang="en-IN" sz="2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D6C41F9-461C-6BEC-92DD-4B802D0DF4F9}"/>
              </a:ext>
            </a:extLst>
          </p:cNvPr>
          <p:cNvSpPr txBox="1"/>
          <p:nvPr/>
        </p:nvSpPr>
        <p:spPr>
          <a:xfrm>
            <a:off x="6778254" y="4684515"/>
            <a:ext cx="5160334" cy="769441"/>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Guided by</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                    DR. M. MAYURANATHAN</a:t>
            </a:r>
            <a:endParaRPr lang="en-IN" sz="2200" dirty="0">
              <a:latin typeface="Times New Roman" panose="02020603050405020304" pitchFamily="18" charset="0"/>
              <a:cs typeface="Times New Roman" panose="02020603050405020304" pitchFamily="18" charset="0"/>
            </a:endParaRPr>
          </a:p>
        </p:txBody>
      </p:sp>
      <p:pic>
        <p:nvPicPr>
          <p:cNvPr id="3" name="Picture 2" descr="Saveetha Institute of Medical and Technical Sciences Engineering Fests,  Symposiums in Chennai from November 2025 Technical, Cultural, Management,  Sports, Conferences, Seminars">
            <a:extLst>
              <a:ext uri="{FF2B5EF4-FFF2-40B4-BE49-F238E27FC236}">
                <a16:creationId xmlns:a16="http://schemas.microsoft.com/office/drawing/2014/main" id="{8D1B5CA5-BA08-F83A-C410-D54D309C2E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3590" y="104337"/>
            <a:ext cx="8751057" cy="95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12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8F232-2E7F-A5C4-179B-194B7C27A9A5}"/>
              </a:ext>
            </a:extLst>
          </p:cNvPr>
          <p:cNvSpPr>
            <a:spLocks noGrp="1"/>
          </p:cNvSpPr>
          <p:nvPr>
            <p:ph type="title"/>
          </p:nvPr>
        </p:nvSpPr>
        <p:spPr>
          <a:xfrm>
            <a:off x="2366813" y="308344"/>
            <a:ext cx="7202489" cy="428848"/>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D4DAB8-F143-13DA-9FCD-1052D36F6524}"/>
              </a:ext>
            </a:extLst>
          </p:cNvPr>
          <p:cNvSpPr>
            <a:spLocks noGrp="1"/>
          </p:cNvSpPr>
          <p:nvPr>
            <p:ph idx="1"/>
          </p:nvPr>
        </p:nvSpPr>
        <p:spPr>
          <a:xfrm>
            <a:off x="1967023" y="1814627"/>
            <a:ext cx="10120791" cy="3554814"/>
          </a:xfrm>
        </p:spPr>
        <p:txBody>
          <a:bodyPr>
            <a:noAutofit/>
          </a:bodyPr>
          <a:lstStyle/>
          <a:p>
            <a:pPr>
              <a:lnSpc>
                <a:spcPct val="17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Autonomous vehicles use Computer Vision to perceive and navigate their surroundings without continuous human control. </a:t>
            </a:r>
          </a:p>
          <a:p>
            <a:pPr>
              <a:lnSpc>
                <a:spcPct val="17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Computer Vision enables the detection of roads, pedestrians, vehicles, traffic signs, and lane markings in real time. </a:t>
            </a:r>
          </a:p>
          <a:p>
            <a:pPr>
              <a:lnSpc>
                <a:spcPct val="17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The system combines Vision Pipeline, Camera Calibration, and Depth Estimation to ensure accurate environmental perception. </a:t>
            </a:r>
          </a:p>
          <a:p>
            <a:pPr>
              <a:lnSpc>
                <a:spcPct val="17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Autonomous driving technology is widely used in self-driving cars, ADAS, robotaxis, and intelligent transportation systems.</a:t>
            </a:r>
          </a:p>
        </p:txBody>
      </p:sp>
    </p:spTree>
    <p:extLst>
      <p:ext uri="{BB962C8B-B14F-4D97-AF65-F5344CB8AC3E}">
        <p14:creationId xmlns:p14="http://schemas.microsoft.com/office/powerpoint/2010/main" val="1448849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13207-C3A3-AE00-E23F-BE5A420C1F7B}"/>
              </a:ext>
            </a:extLst>
          </p:cNvPr>
          <p:cNvSpPr>
            <a:spLocks noGrp="1"/>
          </p:cNvSpPr>
          <p:nvPr>
            <p:ph type="title"/>
          </p:nvPr>
        </p:nvSpPr>
        <p:spPr>
          <a:xfrm>
            <a:off x="2671261" y="253408"/>
            <a:ext cx="7559749" cy="696433"/>
          </a:xfrm>
        </p:spPr>
        <p:txBody>
          <a:bodyPr>
            <a:normAutofit fontScale="90000"/>
          </a:bodyPr>
          <a:lstStyle/>
          <a:p>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D889A77-B074-811F-2FC5-D3CAC62AB538}"/>
              </a:ext>
            </a:extLst>
          </p:cNvPr>
          <p:cNvSpPr>
            <a:spLocks noGrp="1"/>
          </p:cNvSpPr>
          <p:nvPr>
            <p:ph idx="1"/>
          </p:nvPr>
        </p:nvSpPr>
        <p:spPr>
          <a:xfrm>
            <a:off x="1984040" y="2635101"/>
            <a:ext cx="10018713" cy="3124201"/>
          </a:xfrm>
        </p:spPr>
        <p:txBody>
          <a:bodyPr>
            <a:noAutofit/>
          </a:bodyPr>
          <a:lstStyle/>
          <a:p>
            <a:pPr>
              <a:lnSpc>
                <a:spcPct val="16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Road environments are highly dynamic, with changing traffic conditions, weather, and lighting affecting vehicle perception. </a:t>
            </a:r>
          </a:p>
          <a:p>
            <a:pPr>
              <a:lnSpc>
                <a:spcPct val="16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Accurate detection of pedestrians, vehicles, and traffic signs is essential to ensure safe and reliable autonomous navigation. </a:t>
            </a:r>
          </a:p>
          <a:p>
            <a:pPr>
              <a:lnSpc>
                <a:spcPct val="16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Uncalibrated cameras and inaccurate depth estimation can lead to incorrect distance measurements and unsafe driving decisions. </a:t>
            </a:r>
          </a:p>
          <a:p>
            <a:pPr>
              <a:lnSpc>
                <a:spcPct val="16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 robust Computer Vision system is required to provide real-time perception, obstacle detection, and intelligent decision-making. </a:t>
            </a:r>
          </a:p>
          <a:p>
            <a:pPr>
              <a:lnSpc>
                <a:spcPct val="160000"/>
              </a:lnSpc>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81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FDAF7-1E91-9980-CB3A-766CF0FEDCCE}"/>
              </a:ext>
            </a:extLst>
          </p:cNvPr>
          <p:cNvSpPr>
            <a:spLocks noGrp="1"/>
          </p:cNvSpPr>
          <p:nvPr>
            <p:ph type="title"/>
          </p:nvPr>
        </p:nvSpPr>
        <p:spPr>
          <a:xfrm>
            <a:off x="1679944" y="398722"/>
            <a:ext cx="9419043" cy="696433"/>
          </a:xfrm>
        </p:spPr>
        <p:txBody>
          <a:bodyPr>
            <a:normAutofit/>
          </a:bodyPr>
          <a:lstStyle/>
          <a:p>
            <a:r>
              <a:rPr lang="en-US" sz="3600" b="1" dirty="0">
                <a:latin typeface="Times New Roman" panose="02020603050405020304" pitchFamily="18" charset="0"/>
                <a:cs typeface="Times New Roman" panose="02020603050405020304" pitchFamily="18" charset="0"/>
              </a:rPr>
              <a:t>VISION PIPELINE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8DCD17-3322-3E83-B56D-0633ACD937B1}"/>
              </a:ext>
            </a:extLst>
          </p:cNvPr>
          <p:cNvSpPr>
            <a:spLocks noGrp="1"/>
          </p:cNvSpPr>
          <p:nvPr>
            <p:ph idx="1"/>
          </p:nvPr>
        </p:nvSpPr>
        <p:spPr>
          <a:xfrm>
            <a:off x="2079733" y="2252329"/>
            <a:ext cx="10018713" cy="3124201"/>
          </a:xfrm>
        </p:spPr>
        <p:txBody>
          <a:bodyPr>
            <a:noAutofit/>
          </a:bodyPr>
          <a:lstStyle/>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Image Acquisition</a:t>
            </a:r>
            <a:r>
              <a:rPr lang="en-IN" sz="2200" dirty="0">
                <a:latin typeface="Times New Roman" panose="02020603050405020304" pitchFamily="18" charset="0"/>
                <a:cs typeface="Times New Roman" panose="02020603050405020304" pitchFamily="18" charset="0"/>
              </a:rPr>
              <a:t> – Captures real-time road images using vehicle-mounted cameras.</a:t>
            </a: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Image Preprocessing</a:t>
            </a:r>
            <a:r>
              <a:rPr lang="en-IN" sz="2200" dirty="0">
                <a:latin typeface="Times New Roman" panose="02020603050405020304" pitchFamily="18" charset="0"/>
                <a:cs typeface="Times New Roman" panose="02020603050405020304" pitchFamily="18" charset="0"/>
              </a:rPr>
              <a:t> – Enhances image quality by reducing noise and improving visibility.</a:t>
            </a: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Feature Extraction</a:t>
            </a:r>
            <a:r>
              <a:rPr lang="en-IN" sz="2200" dirty="0">
                <a:latin typeface="Times New Roman" panose="02020603050405020304" pitchFamily="18" charset="0"/>
                <a:cs typeface="Times New Roman" panose="02020603050405020304" pitchFamily="18" charset="0"/>
              </a:rPr>
              <a:t> – Identifies important features such as lanes, edges, pedestrians, and traffic signs. </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Object Detection &amp; Classification</a:t>
            </a:r>
            <a:r>
              <a:rPr lang="en-IN" sz="2200" dirty="0">
                <a:latin typeface="Times New Roman" panose="02020603050405020304" pitchFamily="18" charset="0"/>
                <a:cs typeface="Times New Roman" panose="02020603050405020304" pitchFamily="18" charset="0"/>
              </a:rPr>
              <a:t> – Detects and classifies vehicles, pedestrians, road signs, and other obstacles. </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Decision Support</a:t>
            </a:r>
            <a:r>
              <a:rPr lang="en-IN" sz="2200" dirty="0">
                <a:latin typeface="Times New Roman" panose="02020603050405020304" pitchFamily="18" charset="0"/>
                <a:cs typeface="Times New Roman" panose="02020603050405020304" pitchFamily="18" charset="0"/>
              </a:rPr>
              <a:t> – Provides processed information to the autonomous driving system for safe navigation.</a:t>
            </a:r>
          </a:p>
        </p:txBody>
      </p:sp>
    </p:spTree>
    <p:extLst>
      <p:ext uri="{BB962C8B-B14F-4D97-AF65-F5344CB8AC3E}">
        <p14:creationId xmlns:p14="http://schemas.microsoft.com/office/powerpoint/2010/main" val="3465800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E88E135-B419-A251-6BC3-451D4584DD9A}"/>
              </a:ext>
            </a:extLst>
          </p:cNvPr>
          <p:cNvPicPr>
            <a:picLocks noChangeAspect="1"/>
          </p:cNvPicPr>
          <p:nvPr/>
        </p:nvPicPr>
        <p:blipFill>
          <a:blip r:embed="rId2"/>
          <a:stretch>
            <a:fillRect/>
          </a:stretch>
        </p:blipFill>
        <p:spPr>
          <a:xfrm>
            <a:off x="3040910" y="191386"/>
            <a:ext cx="7028122" cy="6475228"/>
          </a:xfrm>
          <a:prstGeom prst="rect">
            <a:avLst/>
          </a:prstGeom>
        </p:spPr>
      </p:pic>
    </p:spTree>
    <p:extLst>
      <p:ext uri="{BB962C8B-B14F-4D97-AF65-F5344CB8AC3E}">
        <p14:creationId xmlns:p14="http://schemas.microsoft.com/office/powerpoint/2010/main" val="2475393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5FA09E-8784-1B7F-7E75-4045806AB54B}"/>
              </a:ext>
            </a:extLst>
          </p:cNvPr>
          <p:cNvSpPr>
            <a:spLocks noGrp="1"/>
          </p:cNvSpPr>
          <p:nvPr>
            <p:ph type="title"/>
          </p:nvPr>
        </p:nvSpPr>
        <p:spPr>
          <a:xfrm>
            <a:off x="2955851" y="295940"/>
            <a:ext cx="7240772" cy="770860"/>
          </a:xfrm>
        </p:spPr>
        <p:txBody>
          <a:bodyPr>
            <a:normAutofit/>
          </a:bodyPr>
          <a:lstStyle/>
          <a:p>
            <a:r>
              <a:rPr lang="en-IN" sz="3600" b="1" dirty="0">
                <a:latin typeface="Times New Roman" panose="02020603050405020304" pitchFamily="18" charset="0"/>
                <a:cs typeface="Times New Roman" panose="02020603050405020304" pitchFamily="18" charset="0"/>
              </a:rPr>
              <a:t>Camera Calibration</a:t>
            </a:r>
          </a:p>
        </p:txBody>
      </p:sp>
      <p:sp>
        <p:nvSpPr>
          <p:cNvPr id="4" name="Content Placeholder 3">
            <a:extLst>
              <a:ext uri="{FF2B5EF4-FFF2-40B4-BE49-F238E27FC236}">
                <a16:creationId xmlns:a16="http://schemas.microsoft.com/office/drawing/2014/main" id="{73094311-8439-F8AF-C9F4-B6666F5D1617}"/>
              </a:ext>
            </a:extLst>
          </p:cNvPr>
          <p:cNvSpPr>
            <a:spLocks noGrp="1"/>
          </p:cNvSpPr>
          <p:nvPr>
            <p:ph idx="1"/>
          </p:nvPr>
        </p:nvSpPr>
        <p:spPr>
          <a:xfrm>
            <a:off x="1824552" y="2326757"/>
            <a:ext cx="10018713" cy="3124201"/>
          </a:xfrm>
        </p:spPr>
        <p:txBody>
          <a:bodyPr>
            <a:noAutofit/>
          </a:bodyPr>
          <a:lstStyle/>
          <a:p>
            <a:r>
              <a:rPr lang="en-IN" sz="2200" b="1" dirty="0">
                <a:latin typeface="Times New Roman" panose="02020603050405020304" pitchFamily="18" charset="0"/>
                <a:cs typeface="Times New Roman" panose="02020603050405020304" pitchFamily="18" charset="0"/>
              </a:rPr>
              <a:t>Camera Calibration</a:t>
            </a:r>
            <a:r>
              <a:rPr lang="en-IN" sz="2200" dirty="0">
                <a:latin typeface="Times New Roman" panose="02020603050405020304" pitchFamily="18" charset="0"/>
                <a:cs typeface="Times New Roman" panose="02020603050405020304" pitchFamily="18" charset="0"/>
              </a:rPr>
              <a:t> determines the camera's intrinsic and extrinsic parameters for accurate image measurement. </a:t>
            </a:r>
          </a:p>
          <a:p>
            <a:r>
              <a:rPr lang="en-IN" sz="2200" b="1" dirty="0">
                <a:latin typeface="Times New Roman" panose="02020603050405020304" pitchFamily="18" charset="0"/>
                <a:cs typeface="Times New Roman" panose="02020603050405020304" pitchFamily="18" charset="0"/>
              </a:rPr>
              <a:t>Intrinsic Parameters</a:t>
            </a:r>
            <a:r>
              <a:rPr lang="en-IN" sz="2200" dirty="0">
                <a:latin typeface="Times New Roman" panose="02020603050405020304" pitchFamily="18" charset="0"/>
                <a:cs typeface="Times New Roman" panose="02020603050405020304" pitchFamily="18" charset="0"/>
              </a:rPr>
              <a:t> define the camera's focal length, optical </a:t>
            </a:r>
            <a:r>
              <a:rPr lang="en-IN" sz="2200" dirty="0" err="1">
                <a:latin typeface="Times New Roman" panose="02020603050405020304" pitchFamily="18" charset="0"/>
                <a:cs typeface="Times New Roman" panose="02020603050405020304" pitchFamily="18" charset="0"/>
              </a:rPr>
              <a:t>center</a:t>
            </a:r>
            <a:r>
              <a:rPr lang="en-IN" sz="2200" dirty="0">
                <a:latin typeface="Times New Roman" panose="02020603050405020304" pitchFamily="18" charset="0"/>
                <a:cs typeface="Times New Roman" panose="02020603050405020304" pitchFamily="18" charset="0"/>
              </a:rPr>
              <a:t>, and lens characteristics. </a:t>
            </a:r>
          </a:p>
          <a:p>
            <a:r>
              <a:rPr lang="en-IN" sz="2200" b="1" dirty="0">
                <a:latin typeface="Times New Roman" panose="02020603050405020304" pitchFamily="18" charset="0"/>
                <a:cs typeface="Times New Roman" panose="02020603050405020304" pitchFamily="18" charset="0"/>
              </a:rPr>
              <a:t>Extrinsic Parameters</a:t>
            </a:r>
            <a:r>
              <a:rPr lang="en-IN" sz="2200" dirty="0">
                <a:latin typeface="Times New Roman" panose="02020603050405020304" pitchFamily="18" charset="0"/>
                <a:cs typeface="Times New Roman" panose="02020603050405020304" pitchFamily="18" charset="0"/>
              </a:rPr>
              <a:t> define the camera's position and orientation relative to the real world. </a:t>
            </a:r>
          </a:p>
          <a:p>
            <a:r>
              <a:rPr lang="en-IN" sz="2200" b="1" dirty="0">
                <a:latin typeface="Times New Roman" panose="02020603050405020304" pitchFamily="18" charset="0"/>
                <a:cs typeface="Times New Roman" panose="02020603050405020304" pitchFamily="18" charset="0"/>
              </a:rPr>
              <a:t>Lens Distortion Correction</a:t>
            </a:r>
            <a:r>
              <a:rPr lang="en-IN" sz="2200" dirty="0">
                <a:latin typeface="Times New Roman" panose="02020603050405020304" pitchFamily="18" charset="0"/>
                <a:cs typeface="Times New Roman" panose="02020603050405020304" pitchFamily="18" charset="0"/>
              </a:rPr>
              <a:t> removes image distortions to improve detection accuracy. </a:t>
            </a:r>
          </a:p>
          <a:p>
            <a:r>
              <a:rPr lang="en-IN" sz="2200" b="1" dirty="0">
                <a:latin typeface="Times New Roman" panose="02020603050405020304" pitchFamily="18" charset="0"/>
                <a:cs typeface="Times New Roman" panose="02020603050405020304" pitchFamily="18" charset="0"/>
              </a:rPr>
              <a:t>Calibration</a:t>
            </a:r>
            <a:r>
              <a:rPr lang="en-IN" sz="2200" dirty="0">
                <a:latin typeface="Times New Roman" panose="02020603050405020304" pitchFamily="18" charset="0"/>
                <a:cs typeface="Times New Roman" panose="02020603050405020304" pitchFamily="18" charset="0"/>
              </a:rPr>
              <a:t> ensures precise object localization and distance measurement for safe autonomous driving. </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942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20C9D4-DD2C-ABC4-5178-004489CEE49E}"/>
              </a:ext>
            </a:extLst>
          </p:cNvPr>
          <p:cNvPicPr>
            <a:picLocks noChangeAspect="1"/>
          </p:cNvPicPr>
          <p:nvPr/>
        </p:nvPicPr>
        <p:blipFill>
          <a:blip r:embed="rId2"/>
          <a:stretch>
            <a:fillRect/>
          </a:stretch>
        </p:blipFill>
        <p:spPr>
          <a:xfrm>
            <a:off x="3476847" y="0"/>
            <a:ext cx="6549655" cy="6858000"/>
          </a:xfrm>
          <a:prstGeom prst="rect">
            <a:avLst/>
          </a:prstGeom>
        </p:spPr>
      </p:pic>
    </p:spTree>
    <p:extLst>
      <p:ext uri="{BB962C8B-B14F-4D97-AF65-F5344CB8AC3E}">
        <p14:creationId xmlns:p14="http://schemas.microsoft.com/office/powerpoint/2010/main" val="2402856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9BEB-EDC2-04D9-729C-B56C8BB22F13}"/>
              </a:ext>
            </a:extLst>
          </p:cNvPr>
          <p:cNvSpPr>
            <a:spLocks noGrp="1"/>
          </p:cNvSpPr>
          <p:nvPr>
            <p:ph type="title"/>
          </p:nvPr>
        </p:nvSpPr>
        <p:spPr>
          <a:xfrm>
            <a:off x="3012558" y="334927"/>
            <a:ext cx="6166883" cy="643270"/>
          </a:xfrm>
        </p:spPr>
        <p:txBody>
          <a:bodyPr>
            <a:normAutofit/>
          </a:bodyPr>
          <a:lstStyle/>
          <a:p>
            <a:r>
              <a:rPr lang="en-IN" sz="3600" b="1" dirty="0">
                <a:latin typeface="Times New Roman" panose="02020603050405020304" pitchFamily="18" charset="0"/>
                <a:cs typeface="Times New Roman" panose="02020603050405020304" pitchFamily="18" charset="0"/>
              </a:rPr>
              <a:t>Depth Estimation</a:t>
            </a:r>
          </a:p>
        </p:txBody>
      </p:sp>
      <p:sp>
        <p:nvSpPr>
          <p:cNvPr id="3" name="Content Placeholder 2">
            <a:extLst>
              <a:ext uri="{FF2B5EF4-FFF2-40B4-BE49-F238E27FC236}">
                <a16:creationId xmlns:a16="http://schemas.microsoft.com/office/drawing/2014/main" id="{52368164-18B9-6751-9ADD-802E03C4BE65}"/>
              </a:ext>
            </a:extLst>
          </p:cNvPr>
          <p:cNvSpPr>
            <a:spLocks noGrp="1"/>
          </p:cNvSpPr>
          <p:nvPr>
            <p:ph idx="1"/>
          </p:nvPr>
        </p:nvSpPr>
        <p:spPr>
          <a:xfrm>
            <a:off x="2035063" y="2037021"/>
            <a:ext cx="10018713" cy="3124201"/>
          </a:xfrm>
        </p:spPr>
        <p:txBody>
          <a:bodyPr>
            <a:noAutofit/>
          </a:bodyPr>
          <a:lstStyle/>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Depth Estimation</a:t>
            </a:r>
            <a:r>
              <a:rPr lang="en-IN" sz="2200" dirty="0">
                <a:latin typeface="Times New Roman" panose="02020603050405020304" pitchFamily="18" charset="0"/>
                <a:cs typeface="Times New Roman" panose="02020603050405020304" pitchFamily="18" charset="0"/>
              </a:rPr>
              <a:t> calculates the distance between the autonomous vehicle and surrounding objects. </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Stereo Cameras</a:t>
            </a:r>
            <a:r>
              <a:rPr lang="en-IN" sz="2200" dirty="0">
                <a:latin typeface="Times New Roman" panose="02020603050405020304" pitchFamily="18" charset="0"/>
                <a:cs typeface="Times New Roman" panose="02020603050405020304" pitchFamily="18" charset="0"/>
              </a:rPr>
              <a:t> capture the same scene from two different viewpoints to estimate depth. </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Disparity Matching</a:t>
            </a:r>
            <a:r>
              <a:rPr lang="en-IN" sz="2200" dirty="0">
                <a:latin typeface="Times New Roman" panose="02020603050405020304" pitchFamily="18" charset="0"/>
                <a:cs typeface="Times New Roman" panose="02020603050405020304" pitchFamily="18" charset="0"/>
              </a:rPr>
              <a:t> identifies corresponding points in both images to measure pixel differences. </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Triangulation</a:t>
            </a:r>
            <a:r>
              <a:rPr lang="en-IN" sz="2200" dirty="0">
                <a:latin typeface="Times New Roman" panose="02020603050405020304" pitchFamily="18" charset="0"/>
                <a:cs typeface="Times New Roman" panose="02020603050405020304" pitchFamily="18" charset="0"/>
              </a:rPr>
              <a:t> converts disparity information into accurate real-world distances. </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Depth information</a:t>
            </a:r>
            <a:r>
              <a:rPr lang="en-IN" sz="2200" dirty="0">
                <a:latin typeface="Times New Roman" panose="02020603050405020304" pitchFamily="18" charset="0"/>
                <a:cs typeface="Times New Roman" panose="02020603050405020304" pitchFamily="18" charset="0"/>
              </a:rPr>
              <a:t> enables obstacle avoidance, collision prevention, and safe navigation.</a:t>
            </a:r>
          </a:p>
        </p:txBody>
      </p:sp>
    </p:spTree>
    <p:extLst>
      <p:ext uri="{BB962C8B-B14F-4D97-AF65-F5344CB8AC3E}">
        <p14:creationId xmlns:p14="http://schemas.microsoft.com/office/powerpoint/2010/main" val="673385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8DCDCF-4333-7843-EBAE-BCAC870117CF}"/>
              </a:ext>
            </a:extLst>
          </p:cNvPr>
          <p:cNvPicPr>
            <a:picLocks noChangeAspect="1"/>
          </p:cNvPicPr>
          <p:nvPr/>
        </p:nvPicPr>
        <p:blipFill>
          <a:blip r:embed="rId2"/>
          <a:stretch>
            <a:fillRect/>
          </a:stretch>
        </p:blipFill>
        <p:spPr>
          <a:xfrm>
            <a:off x="3657601" y="0"/>
            <a:ext cx="6198780" cy="6858000"/>
          </a:xfrm>
          <a:prstGeom prst="rect">
            <a:avLst/>
          </a:prstGeom>
        </p:spPr>
      </p:pic>
    </p:spTree>
    <p:extLst>
      <p:ext uri="{BB962C8B-B14F-4D97-AF65-F5344CB8AC3E}">
        <p14:creationId xmlns:p14="http://schemas.microsoft.com/office/powerpoint/2010/main" val="790223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019EA-7827-E411-71B4-7D4EC8685F6A}"/>
              </a:ext>
            </a:extLst>
          </p:cNvPr>
          <p:cNvSpPr>
            <a:spLocks noGrp="1"/>
          </p:cNvSpPr>
          <p:nvPr>
            <p:ph type="title"/>
          </p:nvPr>
        </p:nvSpPr>
        <p:spPr>
          <a:xfrm>
            <a:off x="1580004" y="111643"/>
            <a:ext cx="10018713" cy="728330"/>
          </a:xfrm>
        </p:spPr>
        <p:txBody>
          <a:bodyPr>
            <a:normAutofit/>
          </a:bodyPr>
          <a:lstStyle/>
          <a:p>
            <a:r>
              <a:rPr lang="en-IN" sz="3600" b="1" dirty="0">
                <a:latin typeface="Times New Roman" panose="02020603050405020304" pitchFamily="18" charset="0"/>
                <a:cs typeface="Times New Roman" panose="02020603050405020304" pitchFamily="18" charset="0"/>
              </a:rPr>
              <a:t>Integrated Working of an Autonomous Vehicle</a:t>
            </a:r>
          </a:p>
        </p:txBody>
      </p:sp>
      <p:sp>
        <p:nvSpPr>
          <p:cNvPr id="3" name="Content Placeholder 2">
            <a:extLst>
              <a:ext uri="{FF2B5EF4-FFF2-40B4-BE49-F238E27FC236}">
                <a16:creationId xmlns:a16="http://schemas.microsoft.com/office/drawing/2014/main" id="{53A0F4AA-07A8-0D82-604A-BF52A75C845A}"/>
              </a:ext>
            </a:extLst>
          </p:cNvPr>
          <p:cNvSpPr>
            <a:spLocks noGrp="1"/>
          </p:cNvSpPr>
          <p:nvPr>
            <p:ph idx="1"/>
          </p:nvPr>
        </p:nvSpPr>
        <p:spPr>
          <a:xfrm>
            <a:off x="1792654" y="2188533"/>
            <a:ext cx="10018713" cy="3124201"/>
          </a:xfrm>
        </p:spPr>
        <p:txBody>
          <a:bodyPr>
            <a:noAutofit/>
          </a:bodyPr>
          <a:lstStyle/>
          <a:p>
            <a:r>
              <a:rPr lang="en-IN" sz="2200" b="1" dirty="0">
                <a:latin typeface="Times New Roman" panose="02020603050405020304" pitchFamily="18" charset="0"/>
                <a:cs typeface="Times New Roman" panose="02020603050405020304" pitchFamily="18" charset="0"/>
              </a:rPr>
              <a:t>The camera captures</a:t>
            </a:r>
            <a:r>
              <a:rPr lang="en-IN" sz="2200" dirty="0">
                <a:latin typeface="Times New Roman" panose="02020603050405020304" pitchFamily="18" charset="0"/>
                <a:cs typeface="Times New Roman" panose="02020603050405020304" pitchFamily="18" charset="0"/>
              </a:rPr>
              <a:t> real-time road images and sends them to the perception system. </a:t>
            </a:r>
          </a:p>
          <a:p>
            <a:r>
              <a:rPr lang="en-IN" sz="2200" b="1" dirty="0">
                <a:latin typeface="Times New Roman" panose="02020603050405020304" pitchFamily="18" charset="0"/>
                <a:cs typeface="Times New Roman" panose="02020603050405020304" pitchFamily="18" charset="0"/>
              </a:rPr>
              <a:t>The Vision Pipeline</a:t>
            </a:r>
            <a:r>
              <a:rPr lang="en-IN" sz="2200" dirty="0">
                <a:latin typeface="Times New Roman" panose="02020603050405020304" pitchFamily="18" charset="0"/>
                <a:cs typeface="Times New Roman" panose="02020603050405020304" pitchFamily="18" charset="0"/>
              </a:rPr>
              <a:t> preprocesses the images and detects roads, pedestrians, vehicles, and traffic signs. </a:t>
            </a:r>
          </a:p>
          <a:p>
            <a:r>
              <a:rPr lang="en-IN" sz="2200" b="1" dirty="0">
                <a:latin typeface="Times New Roman" panose="02020603050405020304" pitchFamily="18" charset="0"/>
                <a:cs typeface="Times New Roman" panose="02020603050405020304" pitchFamily="18" charset="0"/>
              </a:rPr>
              <a:t>Camera Calibration</a:t>
            </a:r>
            <a:r>
              <a:rPr lang="en-IN" sz="2200" dirty="0">
                <a:latin typeface="Times New Roman" panose="02020603050405020304" pitchFamily="18" charset="0"/>
                <a:cs typeface="Times New Roman" panose="02020603050405020304" pitchFamily="18" charset="0"/>
              </a:rPr>
              <a:t> corrects distortions and provides accurate geometric measurements. </a:t>
            </a:r>
          </a:p>
          <a:p>
            <a:r>
              <a:rPr lang="en-IN" sz="2200" b="1" dirty="0">
                <a:latin typeface="Times New Roman" panose="02020603050405020304" pitchFamily="18" charset="0"/>
                <a:cs typeface="Times New Roman" panose="02020603050405020304" pitchFamily="18" charset="0"/>
              </a:rPr>
              <a:t>Depth Estimation</a:t>
            </a:r>
            <a:r>
              <a:rPr lang="en-IN" sz="2200" dirty="0">
                <a:latin typeface="Times New Roman" panose="02020603050405020304" pitchFamily="18" charset="0"/>
                <a:cs typeface="Times New Roman" panose="02020603050405020304" pitchFamily="18" charset="0"/>
              </a:rPr>
              <a:t> calculates the distance to surrounding objects for collision avoidance. </a:t>
            </a:r>
          </a:p>
          <a:p>
            <a:r>
              <a:rPr lang="en-IN" sz="2200" b="1" dirty="0">
                <a:latin typeface="Times New Roman" panose="02020603050405020304" pitchFamily="18" charset="0"/>
                <a:cs typeface="Times New Roman" panose="02020603050405020304" pitchFamily="18" charset="0"/>
              </a:rPr>
              <a:t>The autonomous system</a:t>
            </a:r>
            <a:r>
              <a:rPr lang="en-IN" sz="2200" dirty="0">
                <a:latin typeface="Times New Roman" panose="02020603050405020304" pitchFamily="18" charset="0"/>
                <a:cs typeface="Times New Roman" panose="02020603050405020304" pitchFamily="18" charset="0"/>
              </a:rPr>
              <a:t> makes intelligent driving decisions such as braking, steering, or accelerating safely. </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867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FD9D6E-38BA-A390-384A-9E391BEFD27C}"/>
              </a:ext>
            </a:extLst>
          </p:cNvPr>
          <p:cNvSpPr txBox="1"/>
          <p:nvPr/>
        </p:nvSpPr>
        <p:spPr>
          <a:xfrm>
            <a:off x="3048886" y="3244334"/>
            <a:ext cx="6097772" cy="369332"/>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F3B38B4F-EAEA-42A4-551D-33AB5F96EE40}"/>
              </a:ext>
            </a:extLst>
          </p:cNvPr>
          <p:cNvPicPr>
            <a:picLocks noChangeAspect="1"/>
          </p:cNvPicPr>
          <p:nvPr/>
        </p:nvPicPr>
        <p:blipFill>
          <a:blip r:embed="rId2"/>
          <a:stretch>
            <a:fillRect/>
          </a:stretch>
        </p:blipFill>
        <p:spPr>
          <a:xfrm>
            <a:off x="3232298" y="0"/>
            <a:ext cx="7049386" cy="6858000"/>
          </a:xfrm>
          <a:prstGeom prst="rect">
            <a:avLst/>
          </a:prstGeom>
        </p:spPr>
      </p:pic>
    </p:spTree>
    <p:extLst>
      <p:ext uri="{BB962C8B-B14F-4D97-AF65-F5344CB8AC3E}">
        <p14:creationId xmlns:p14="http://schemas.microsoft.com/office/powerpoint/2010/main" val="603879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6033-D5F0-667A-5301-B81C5456AA73}"/>
              </a:ext>
            </a:extLst>
          </p:cNvPr>
          <p:cNvSpPr>
            <a:spLocks noGrp="1"/>
          </p:cNvSpPr>
          <p:nvPr>
            <p:ph type="title"/>
          </p:nvPr>
        </p:nvSpPr>
        <p:spPr>
          <a:xfrm>
            <a:off x="3863163" y="430619"/>
            <a:ext cx="4465674" cy="547577"/>
          </a:xfrm>
        </p:spPr>
        <p:txBody>
          <a:bodyPr>
            <a:normAutofit fontScale="90000"/>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13C8EA-84FA-5150-F604-75FCE21204AE}"/>
              </a:ext>
            </a:extLst>
          </p:cNvPr>
          <p:cNvSpPr>
            <a:spLocks noGrp="1"/>
          </p:cNvSpPr>
          <p:nvPr>
            <p:ph idx="1"/>
          </p:nvPr>
        </p:nvSpPr>
        <p:spPr>
          <a:xfrm>
            <a:off x="1633165" y="1656906"/>
            <a:ext cx="10018713" cy="3124201"/>
          </a:xfrm>
        </p:spPr>
        <p:txBody>
          <a:bodyPr>
            <a:normAutofit/>
          </a:bodyPr>
          <a:lstStyle/>
          <a:p>
            <a:pPr>
              <a:lnSpc>
                <a:spcPct val="150000"/>
              </a:lnSpc>
            </a:pPr>
            <a:r>
              <a:rPr lang="en-IN" sz="2200" dirty="0">
                <a:latin typeface="Times New Roman" panose="02020603050405020304" pitchFamily="18" charset="0"/>
                <a:cs typeface="Times New Roman" panose="02020603050405020304" pitchFamily="18" charset="0"/>
              </a:rPr>
              <a:t>           Computer Vision plays a vital role in enabling autonomous vehicles to perceive and understand their surroundings. By integrating the Vision Pipeline, Camera Calibration, and Depth Estimation, the system can accurately detect roads, pedestrians, and traffic signs while making safe driving decisions. As AI and computer vision technologies continue to advance, autonomous vehicles will become more intelligent, reliable, and efficient for future transportation.</a:t>
            </a:r>
          </a:p>
        </p:txBody>
      </p:sp>
    </p:spTree>
    <p:extLst>
      <p:ext uri="{BB962C8B-B14F-4D97-AF65-F5344CB8AC3E}">
        <p14:creationId xmlns:p14="http://schemas.microsoft.com/office/powerpoint/2010/main" val="3018999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ank You Stock Photos, Images and Backgrounds for Free Download">
            <a:extLst>
              <a:ext uri="{FF2B5EF4-FFF2-40B4-BE49-F238E27FC236}">
                <a16:creationId xmlns:a16="http://schemas.microsoft.com/office/drawing/2014/main" id="{6B772758-7174-7F0C-1B19-E7FE9D700CB9}"/>
              </a:ext>
            </a:extLst>
          </p:cNvPr>
          <p:cNvPicPr>
            <a:picLocks noChangeAspect="1"/>
          </p:cNvPicPr>
          <p:nvPr/>
        </p:nvPicPr>
        <p:blipFill>
          <a:blip r:embed="rId2"/>
          <a:stretch>
            <a:fillRect/>
          </a:stretch>
        </p:blipFill>
        <p:spPr>
          <a:xfrm>
            <a:off x="0" y="170122"/>
            <a:ext cx="12192000" cy="6687878"/>
          </a:xfrm>
          <a:prstGeom prst="rect">
            <a:avLst/>
          </a:prstGeom>
        </p:spPr>
      </p:pic>
    </p:spTree>
    <p:extLst>
      <p:ext uri="{BB962C8B-B14F-4D97-AF65-F5344CB8AC3E}">
        <p14:creationId xmlns:p14="http://schemas.microsoft.com/office/powerpoint/2010/main" val="15892252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Parallax</Template>
  <TotalTime>150</TotalTime>
  <Words>556</Words>
  <Application>Microsoft Office PowerPoint</Application>
  <PresentationFormat>Widescreen</PresentationFormat>
  <Paragraphs>44</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Corbel</vt:lpstr>
      <vt:lpstr>Times New Roman</vt:lpstr>
      <vt:lpstr>Wingdings</vt:lpstr>
      <vt:lpstr>Parallax</vt:lpstr>
      <vt:lpstr>Computer Vision for Autonomous Vehicles: Perception, Calibration, and Depth Estimation</vt:lpstr>
      <vt:lpstr>INTRODUCTION</vt:lpstr>
      <vt:lpstr>Problem Statement</vt:lpstr>
      <vt:lpstr>VISION PIPELINE</vt:lpstr>
      <vt:lpstr>PowerPoint Presentation</vt:lpstr>
      <vt:lpstr>Camera Calibration</vt:lpstr>
      <vt:lpstr>PowerPoint Presentation</vt:lpstr>
      <vt:lpstr>Depth Estimation</vt:lpstr>
      <vt:lpstr>PowerPoint Presentation</vt:lpstr>
      <vt:lpstr>Integrated Working of an Autonomous Vehicle</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jsjoshan9651@gmail.com</dc:creator>
  <cp:lastModifiedBy>jsjoshan9651@gmail.com</cp:lastModifiedBy>
  <cp:revision>2</cp:revision>
  <dcterms:created xsi:type="dcterms:W3CDTF">2026-07-14T03:40:35Z</dcterms:created>
  <dcterms:modified xsi:type="dcterms:W3CDTF">2026-07-14T06:20:05Z</dcterms:modified>
</cp:coreProperties>
</file>